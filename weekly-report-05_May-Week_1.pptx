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Montserrat Black"/>
      <p:bold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96F313-4B49-42B1-A1C5-13A5E9195BEB}">
  <a:tblStyle styleId="{E096F313-4B49-42B1-A1C5-13A5E9195BE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DFA0212-414B-471C-9494-E5C37E109D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MontserratBlack-bold.fntdata"/><Relationship Id="rId20" Type="http://schemas.openxmlformats.org/officeDocument/2006/relationships/font" Target="fonts/MontserratBlack-boldItalic.fntdata"/><Relationship Id="rId21" Type="http://schemas.openxmlformats.org/officeDocument/2006/relationships/font" Target="fonts/Montserrat-regular.fntdata"/><Relationship Id="rId22" Type="http://schemas.openxmlformats.org/officeDocument/2006/relationships/font" Target="fonts/Montserrat-bold.fntdata"/><Relationship Id="rId23" Type="http://schemas.openxmlformats.org/officeDocument/2006/relationships/font" Target="fonts/Montserrat-italic.fntdata"/><Relationship Id="rId24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b9ba063c5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b9ba063c5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7a8b39d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7a8b39d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9415c0e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9415c0e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22bd3242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22bd3242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da710eb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da710eb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90efbd7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90efbd7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22bd3242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22bd3242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22bd3242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22bd3242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6b83f42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6b83f42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2e2ef4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22e2ef4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b9ba063c5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b9ba063c5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jpg"/><Relationship Id="rId3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Relationship Id="rId3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Peak 1">
  <p:cSld name="TITLE_ONLY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 amt="24000"/>
          </a:blip>
          <a:srcRect b="1229" l="0" r="1254" t="123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50" y="4277925"/>
            <a:ext cx="668900" cy="6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87490" y="1074232"/>
            <a:ext cx="469963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4100">
                <a:solidFill>
                  <a:srgbClr val="11264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01955" y="2438295"/>
            <a:ext cx="8238649" cy="135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000">
                <a:solidFill>
                  <a:srgbClr val="1F1F1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559016" y="957160"/>
            <a:ext cx="5846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985918" y="2724610"/>
            <a:ext cx="49923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 b="0" l="0" r="60427" t="38363"/>
          <a:stretch/>
        </p:blipFill>
        <p:spPr>
          <a:xfrm>
            <a:off x="3773975" y="777752"/>
            <a:ext cx="5370025" cy="436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9775" y="1195550"/>
            <a:ext cx="1732800" cy="248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lue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91440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 b="426" l="23855" r="7260" t="22121"/>
          <a:stretch/>
        </p:blipFill>
        <p:spPr>
          <a:xfrm>
            <a:off x="7457450" y="3861125"/>
            <a:ext cx="1686548" cy="12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0" y="1194300"/>
            <a:ext cx="75465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534072"/>
            <a:ext cx="85206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310896" y="1194295"/>
            <a:ext cx="4491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9pPr>
          </a:lstStyle>
          <a:p/>
        </p:txBody>
      </p:sp>
      <p:pic>
        <p:nvPicPr>
          <p:cNvPr id="81" name="Google Shape;8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8846" y="4009412"/>
            <a:ext cx="686430" cy="9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Green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0" y="0"/>
            <a:ext cx="91440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9"/>
          <p:cNvPicPr preferRelativeResize="0"/>
          <p:nvPr/>
        </p:nvPicPr>
        <p:blipFill rotWithShape="1">
          <a:blip r:embed="rId3">
            <a:alphaModFix/>
          </a:blip>
          <a:srcRect b="426" l="23855" r="7260" t="22121"/>
          <a:stretch/>
        </p:blipFill>
        <p:spPr>
          <a:xfrm>
            <a:off x="7457450" y="3861125"/>
            <a:ext cx="1686548" cy="12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/>
          <p:nvPr/>
        </p:nvSpPr>
        <p:spPr>
          <a:xfrm>
            <a:off x="0" y="1194300"/>
            <a:ext cx="75465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34072"/>
            <a:ext cx="85206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1" type="subTitle"/>
          </p:nvPr>
        </p:nvSpPr>
        <p:spPr>
          <a:xfrm>
            <a:off x="310896" y="1194295"/>
            <a:ext cx="4491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9pPr>
          </a:lstStyle>
          <a:p/>
        </p:txBody>
      </p:sp>
      <p:pic>
        <p:nvPicPr>
          <p:cNvPr id="89" name="Google Shape;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8846" y="4009412"/>
            <a:ext cx="686430" cy="9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ed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0"/>
            <a:ext cx="91440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20"/>
          <p:cNvPicPr preferRelativeResize="0"/>
          <p:nvPr/>
        </p:nvPicPr>
        <p:blipFill rotWithShape="1">
          <a:blip r:embed="rId3">
            <a:alphaModFix/>
          </a:blip>
          <a:srcRect b="426" l="23855" r="7260" t="22121"/>
          <a:stretch/>
        </p:blipFill>
        <p:spPr>
          <a:xfrm>
            <a:off x="7457450" y="3861125"/>
            <a:ext cx="1686548" cy="12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0"/>
          <p:cNvSpPr/>
          <p:nvPr/>
        </p:nvSpPr>
        <p:spPr>
          <a:xfrm>
            <a:off x="0" y="1194375"/>
            <a:ext cx="7546500" cy="39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534072"/>
            <a:ext cx="85206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3900"/>
              <a:buNone/>
              <a:defRPr sz="39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310896" y="1194295"/>
            <a:ext cx="4491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None/>
              <a:defRPr>
                <a:solidFill>
                  <a:srgbClr val="12284C"/>
                </a:solidFill>
              </a:defRPr>
            </a:lvl9pPr>
          </a:lstStyle>
          <a:p/>
        </p:txBody>
      </p:sp>
      <p:pic>
        <p:nvPicPr>
          <p:cNvPr id="97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8846" y="4009412"/>
            <a:ext cx="686430" cy="9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and body - Blue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27950" y="-10150"/>
            <a:ext cx="7362900" cy="515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42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 rotWithShape="1">
          <a:blip r:embed="rId3">
            <a:alphaModFix/>
          </a:blip>
          <a:srcRect b="0" l="0" r="60427" t="38363"/>
          <a:stretch/>
        </p:blipFill>
        <p:spPr>
          <a:xfrm>
            <a:off x="7622475" y="3906525"/>
            <a:ext cx="1521526" cy="12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2200" y="4079073"/>
            <a:ext cx="655451" cy="9173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/>
          <p:nvPr>
            <p:ph idx="2" type="pic"/>
          </p:nvPr>
        </p:nvSpPr>
        <p:spPr>
          <a:xfrm>
            <a:off x="5910650" y="445025"/>
            <a:ext cx="2944200" cy="3565800"/>
          </a:xfrm>
          <a:prstGeom prst="roundRect">
            <a:avLst>
              <a:gd fmla="val 2487" name="adj"/>
            </a:avLst>
          </a:prstGeom>
          <a:noFill/>
          <a:ln>
            <a:noFill/>
          </a:ln>
        </p:spPr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527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300"/>
              <a:buNone/>
              <a:defRPr sz="2300">
                <a:solidFill>
                  <a:srgbClr val="3D85C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100"/>
              <a:buNone/>
              <a:defRPr sz="2100">
                <a:solidFill>
                  <a:srgbClr val="3D85C6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3" type="body"/>
          </p:nvPr>
        </p:nvSpPr>
        <p:spPr>
          <a:xfrm>
            <a:off x="311700" y="1152475"/>
            <a:ext cx="527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and body - Green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/>
        </p:nvSpPr>
        <p:spPr>
          <a:xfrm>
            <a:off x="27950" y="-10150"/>
            <a:ext cx="7362900" cy="515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527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300"/>
              <a:buNone/>
              <a:defRPr sz="2300">
                <a:solidFill>
                  <a:srgbClr val="6AA8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None/>
              <a:defRPr sz="1800">
                <a:solidFill>
                  <a:srgbClr val="6AA84F"/>
                </a:solidFill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42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 rotWithShape="1">
          <a:blip r:embed="rId3">
            <a:alphaModFix/>
          </a:blip>
          <a:srcRect b="0" l="0" r="60427" t="38363"/>
          <a:stretch/>
        </p:blipFill>
        <p:spPr>
          <a:xfrm>
            <a:off x="7622475" y="3906525"/>
            <a:ext cx="1521526" cy="12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2200" y="4079073"/>
            <a:ext cx="655451" cy="91735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/>
          <p:nvPr>
            <p:ph idx="2" type="pic"/>
          </p:nvPr>
        </p:nvSpPr>
        <p:spPr>
          <a:xfrm>
            <a:off x="5910650" y="445025"/>
            <a:ext cx="2944200" cy="3565800"/>
          </a:xfrm>
          <a:prstGeom prst="roundRect">
            <a:avLst>
              <a:gd fmla="val 2487" name="adj"/>
            </a:avLst>
          </a:prstGeom>
          <a:noFill/>
          <a:ln>
            <a:noFill/>
          </a:ln>
        </p:spPr>
      </p:sp>
      <p:sp>
        <p:nvSpPr>
          <p:cNvPr id="115" name="Google Shape;115;p22"/>
          <p:cNvSpPr txBox="1"/>
          <p:nvPr>
            <p:ph idx="3" type="body"/>
          </p:nvPr>
        </p:nvSpPr>
        <p:spPr>
          <a:xfrm>
            <a:off x="311700" y="1152475"/>
            <a:ext cx="527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and body - Red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42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0" l="0" r="60427" t="38363"/>
          <a:stretch/>
        </p:blipFill>
        <p:spPr>
          <a:xfrm>
            <a:off x="7622475" y="3906525"/>
            <a:ext cx="1521526" cy="12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2200" y="4079073"/>
            <a:ext cx="655451" cy="9173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/>
          <p:nvPr/>
        </p:nvSpPr>
        <p:spPr>
          <a:xfrm>
            <a:off x="27950" y="-10150"/>
            <a:ext cx="7362900" cy="515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3"/>
          <p:cNvSpPr/>
          <p:nvPr>
            <p:ph idx="2" type="pic"/>
          </p:nvPr>
        </p:nvSpPr>
        <p:spPr>
          <a:xfrm>
            <a:off x="5910650" y="445025"/>
            <a:ext cx="2944200" cy="3565800"/>
          </a:xfrm>
          <a:prstGeom prst="roundRect">
            <a:avLst>
              <a:gd fmla="val 2487" name="adj"/>
            </a:avLst>
          </a:prstGeom>
          <a:noFill/>
          <a:ln>
            <a:noFill/>
          </a:ln>
        </p:spPr>
      </p:sp>
      <p:sp>
        <p:nvSpPr>
          <p:cNvPr id="123" name="Google Shape;123;p23"/>
          <p:cNvSpPr txBox="1"/>
          <p:nvPr>
            <p:ph idx="3" type="body"/>
          </p:nvPr>
        </p:nvSpPr>
        <p:spPr>
          <a:xfrm>
            <a:off x="311700" y="1152475"/>
            <a:ext cx="527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527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2300"/>
              <a:buNone/>
              <a:defRPr sz="2300">
                <a:solidFill>
                  <a:srgbClr val="E8404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84040"/>
              </a:buClr>
              <a:buSzPts val="1800"/>
              <a:buNone/>
              <a:defRPr sz="1800">
                <a:solidFill>
                  <a:srgbClr val="E8404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- 2 Column (Better)">
  <p:cSld name="TITLE_AND_BOD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/>
          <p:nvPr/>
        </p:nvSpPr>
        <p:spPr>
          <a:xfrm>
            <a:off x="0" y="0"/>
            <a:ext cx="9144000" cy="49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3" y="296750"/>
            <a:ext cx="548700" cy="767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>
            <p:ph type="title"/>
          </p:nvPr>
        </p:nvSpPr>
        <p:spPr>
          <a:xfrm>
            <a:off x="1139850" y="492000"/>
            <a:ext cx="69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1139850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2" name="Google Shape;132;p24"/>
          <p:cNvSpPr txBox="1"/>
          <p:nvPr>
            <p:ph idx="3" type="body"/>
          </p:nvPr>
        </p:nvSpPr>
        <p:spPr>
          <a:xfrm>
            <a:off x="5100693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- 2 Column (Faster)">
  <p:cSld name="TITLE_AND_BOD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5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0" y="0"/>
            <a:ext cx="9144000" cy="49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3" y="296750"/>
            <a:ext cx="548700" cy="767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>
            <p:ph type="title"/>
          </p:nvPr>
        </p:nvSpPr>
        <p:spPr>
          <a:xfrm>
            <a:off x="1139850" y="492000"/>
            <a:ext cx="69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1139850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1" name="Google Shape;141;p25"/>
          <p:cNvSpPr txBox="1"/>
          <p:nvPr>
            <p:ph idx="4" type="body"/>
          </p:nvPr>
        </p:nvSpPr>
        <p:spPr>
          <a:xfrm>
            <a:off x="5100693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- 2 Column (Stronger)">
  <p:cSld name="TITLE_AND_BODY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6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6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6"/>
          <p:cNvSpPr/>
          <p:nvPr/>
        </p:nvSpPr>
        <p:spPr>
          <a:xfrm>
            <a:off x="0" y="0"/>
            <a:ext cx="9144000" cy="49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3" y="296750"/>
            <a:ext cx="548700" cy="76794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>
            <p:ph type="title"/>
          </p:nvPr>
        </p:nvSpPr>
        <p:spPr>
          <a:xfrm>
            <a:off x="1139850" y="492000"/>
            <a:ext cx="69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139850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26"/>
          <p:cNvSpPr txBox="1"/>
          <p:nvPr>
            <p:ph idx="4" type="body"/>
          </p:nvPr>
        </p:nvSpPr>
        <p:spPr>
          <a:xfrm>
            <a:off x="5100693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- 2 Column (Stronger) 1">
  <p:cSld name="TITLE_AND_BODY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7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3" y="296750"/>
            <a:ext cx="548700" cy="76794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type="title"/>
          </p:nvPr>
        </p:nvSpPr>
        <p:spPr>
          <a:xfrm>
            <a:off x="1139850" y="492000"/>
            <a:ext cx="69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1139850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8" name="Google Shape;158;p27"/>
          <p:cNvSpPr txBox="1"/>
          <p:nvPr>
            <p:ph idx="4" type="body"/>
          </p:nvPr>
        </p:nvSpPr>
        <p:spPr>
          <a:xfrm>
            <a:off x="5100693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, body - 2 Column (Stronger) 1 1">
  <p:cSld name="TITLE_AND_BODY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3" y="296750"/>
            <a:ext cx="548700" cy="76794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>
            <p:ph type="title"/>
          </p:nvPr>
        </p:nvSpPr>
        <p:spPr>
          <a:xfrm>
            <a:off x="1139850" y="492000"/>
            <a:ext cx="69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None/>
              <a:defRPr sz="1800"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139850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6" name="Google Shape;166;p28"/>
          <p:cNvSpPr txBox="1"/>
          <p:nvPr>
            <p:ph idx="4" type="body"/>
          </p:nvPr>
        </p:nvSpPr>
        <p:spPr>
          <a:xfrm>
            <a:off x="5100693" y="1064700"/>
            <a:ext cx="36333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ards - Blue">
  <p:cSld name="TITLE_AND_BODY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/>
          <p:nvPr/>
        </p:nvSpPr>
        <p:spPr>
          <a:xfrm>
            <a:off x="50" y="1758275"/>
            <a:ext cx="9144000" cy="33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2499625" y="0"/>
            <a:ext cx="6812700" cy="356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50" y="1437250"/>
            <a:ext cx="9312300" cy="39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 b="0" l="10509" r="60429" t="62545"/>
          <a:stretch/>
        </p:blipFill>
        <p:spPr>
          <a:xfrm>
            <a:off x="0" y="0"/>
            <a:ext cx="3943798" cy="26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1341400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73" name="Google Shape;173;p29"/>
          <p:cNvSpPr/>
          <p:nvPr>
            <p:ph idx="2" type="pic"/>
          </p:nvPr>
        </p:nvSpPr>
        <p:spPr>
          <a:xfrm>
            <a:off x="1341425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9"/>
          <p:cNvSpPr txBox="1"/>
          <p:nvPr>
            <p:ph idx="3" type="subTitle"/>
          </p:nvPr>
        </p:nvSpPr>
        <p:spPr>
          <a:xfrm>
            <a:off x="1341225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75" name="Google Shape;175;p29"/>
          <p:cNvSpPr txBox="1"/>
          <p:nvPr>
            <p:ph idx="4" type="body"/>
          </p:nvPr>
        </p:nvSpPr>
        <p:spPr>
          <a:xfrm>
            <a:off x="3943789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76" name="Google Shape;176;p29"/>
          <p:cNvSpPr/>
          <p:nvPr>
            <p:ph idx="5" type="pic"/>
          </p:nvPr>
        </p:nvSpPr>
        <p:spPr>
          <a:xfrm>
            <a:off x="3943804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9"/>
          <p:cNvSpPr txBox="1"/>
          <p:nvPr>
            <p:ph idx="6" type="subTitle"/>
          </p:nvPr>
        </p:nvSpPr>
        <p:spPr>
          <a:xfrm>
            <a:off x="3943609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78" name="Google Shape;178;p29"/>
          <p:cNvSpPr txBox="1"/>
          <p:nvPr>
            <p:ph idx="7" type="body"/>
          </p:nvPr>
        </p:nvSpPr>
        <p:spPr>
          <a:xfrm>
            <a:off x="6487599" y="3338340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79" name="Google Shape;179;p29"/>
          <p:cNvSpPr/>
          <p:nvPr>
            <p:ph idx="8" type="pic"/>
          </p:nvPr>
        </p:nvSpPr>
        <p:spPr>
          <a:xfrm>
            <a:off x="6487604" y="55609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9"/>
          <p:cNvSpPr txBox="1"/>
          <p:nvPr>
            <p:ph idx="9" type="subTitle"/>
          </p:nvPr>
        </p:nvSpPr>
        <p:spPr>
          <a:xfrm>
            <a:off x="6487415" y="3002421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04" y="556102"/>
            <a:ext cx="705144" cy="98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ards - Green">
  <p:cSld name="TITLE_AND_BODY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/>
          <p:nvPr/>
        </p:nvSpPr>
        <p:spPr>
          <a:xfrm>
            <a:off x="50" y="1758275"/>
            <a:ext cx="9144000" cy="33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2499625" y="0"/>
            <a:ext cx="6812700" cy="356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50" y="1437250"/>
            <a:ext cx="9312300" cy="39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10509" r="60429" t="62545"/>
          <a:stretch/>
        </p:blipFill>
        <p:spPr>
          <a:xfrm>
            <a:off x="0" y="0"/>
            <a:ext cx="3943798" cy="26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1341400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88" name="Google Shape;188;p30"/>
          <p:cNvSpPr/>
          <p:nvPr>
            <p:ph idx="2" type="pic"/>
          </p:nvPr>
        </p:nvSpPr>
        <p:spPr>
          <a:xfrm>
            <a:off x="1341425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0"/>
          <p:cNvSpPr txBox="1"/>
          <p:nvPr>
            <p:ph idx="3" type="subTitle"/>
          </p:nvPr>
        </p:nvSpPr>
        <p:spPr>
          <a:xfrm>
            <a:off x="1341225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90" name="Google Shape;190;p30"/>
          <p:cNvSpPr txBox="1"/>
          <p:nvPr>
            <p:ph idx="4" type="body"/>
          </p:nvPr>
        </p:nvSpPr>
        <p:spPr>
          <a:xfrm>
            <a:off x="3943789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91" name="Google Shape;191;p30"/>
          <p:cNvSpPr/>
          <p:nvPr>
            <p:ph idx="5" type="pic"/>
          </p:nvPr>
        </p:nvSpPr>
        <p:spPr>
          <a:xfrm>
            <a:off x="3943804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0"/>
          <p:cNvSpPr txBox="1"/>
          <p:nvPr>
            <p:ph idx="6" type="subTitle"/>
          </p:nvPr>
        </p:nvSpPr>
        <p:spPr>
          <a:xfrm>
            <a:off x="3943609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93" name="Google Shape;193;p30"/>
          <p:cNvSpPr txBox="1"/>
          <p:nvPr>
            <p:ph idx="7" type="body"/>
          </p:nvPr>
        </p:nvSpPr>
        <p:spPr>
          <a:xfrm>
            <a:off x="6487599" y="3338340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94" name="Google Shape;194;p30"/>
          <p:cNvSpPr/>
          <p:nvPr>
            <p:ph idx="8" type="pic"/>
          </p:nvPr>
        </p:nvSpPr>
        <p:spPr>
          <a:xfrm>
            <a:off x="6487604" y="55609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0"/>
          <p:cNvSpPr txBox="1"/>
          <p:nvPr>
            <p:ph idx="9" type="subTitle"/>
          </p:nvPr>
        </p:nvSpPr>
        <p:spPr>
          <a:xfrm>
            <a:off x="6487415" y="3002421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04" y="556102"/>
            <a:ext cx="705144" cy="98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ards - Red">
  <p:cSld name="TITLE_AND_BODY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/>
          <p:nvPr/>
        </p:nvSpPr>
        <p:spPr>
          <a:xfrm>
            <a:off x="50" y="1758275"/>
            <a:ext cx="9144000" cy="33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2499625" y="0"/>
            <a:ext cx="6812700" cy="356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50" y="1437250"/>
            <a:ext cx="9312300" cy="39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" name="Google Shape;201;p31"/>
          <p:cNvPicPr preferRelativeResize="0"/>
          <p:nvPr/>
        </p:nvPicPr>
        <p:blipFill rotWithShape="1">
          <a:blip r:embed="rId3">
            <a:alphaModFix/>
          </a:blip>
          <a:srcRect b="0" l="10509" r="60429" t="62545"/>
          <a:stretch/>
        </p:blipFill>
        <p:spPr>
          <a:xfrm>
            <a:off x="0" y="0"/>
            <a:ext cx="3943798" cy="26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1341400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03" name="Google Shape;203;p31"/>
          <p:cNvSpPr/>
          <p:nvPr>
            <p:ph idx="2" type="pic"/>
          </p:nvPr>
        </p:nvSpPr>
        <p:spPr>
          <a:xfrm>
            <a:off x="1341425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1"/>
          <p:cNvSpPr txBox="1"/>
          <p:nvPr>
            <p:ph idx="3" type="subTitle"/>
          </p:nvPr>
        </p:nvSpPr>
        <p:spPr>
          <a:xfrm>
            <a:off x="1341225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205" name="Google Shape;205;p31"/>
          <p:cNvSpPr txBox="1"/>
          <p:nvPr>
            <p:ph idx="4" type="body"/>
          </p:nvPr>
        </p:nvSpPr>
        <p:spPr>
          <a:xfrm>
            <a:off x="3943789" y="3338325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06" name="Google Shape;206;p31"/>
          <p:cNvSpPr/>
          <p:nvPr>
            <p:ph idx="5" type="pic"/>
          </p:nvPr>
        </p:nvSpPr>
        <p:spPr>
          <a:xfrm>
            <a:off x="3943804" y="55607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3943609" y="3002408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208" name="Google Shape;208;p31"/>
          <p:cNvSpPr txBox="1"/>
          <p:nvPr>
            <p:ph idx="7" type="body"/>
          </p:nvPr>
        </p:nvSpPr>
        <p:spPr>
          <a:xfrm>
            <a:off x="6487599" y="3338340"/>
            <a:ext cx="21969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09" name="Google Shape;209;p31"/>
          <p:cNvSpPr/>
          <p:nvPr>
            <p:ph idx="8" type="pic"/>
          </p:nvPr>
        </p:nvSpPr>
        <p:spPr>
          <a:xfrm>
            <a:off x="6487604" y="556095"/>
            <a:ext cx="2196900" cy="24162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1"/>
          <p:cNvSpPr txBox="1"/>
          <p:nvPr>
            <p:ph idx="9" type="subTitle"/>
          </p:nvPr>
        </p:nvSpPr>
        <p:spPr>
          <a:xfrm>
            <a:off x="6487415" y="3002421"/>
            <a:ext cx="21969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04" y="556102"/>
            <a:ext cx="705144" cy="98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mountain">
  <p:cSld name="TITLE_AND_BODY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3"/>
          <p:cNvPicPr preferRelativeResize="0"/>
          <p:nvPr/>
        </p:nvPicPr>
        <p:blipFill rotWithShape="1">
          <a:blip r:embed="rId3">
            <a:alphaModFix/>
          </a:blip>
          <a:srcRect b="894" l="0" r="0" t="894"/>
          <a:stretch/>
        </p:blipFill>
        <p:spPr>
          <a:xfrm>
            <a:off x="4184900" y="716718"/>
            <a:ext cx="774200" cy="1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363" y="3872954"/>
            <a:ext cx="983274" cy="4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2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5"/>
          <p:cNvPicPr preferRelativeResize="0"/>
          <p:nvPr/>
        </p:nvPicPr>
        <p:blipFill rotWithShape="1">
          <a:blip r:embed="rId2">
            <a:alphaModFix amt="25000"/>
          </a:blip>
          <a:srcRect b="0" l="1239" r="1229" t="0"/>
          <a:stretch/>
        </p:blipFill>
        <p:spPr>
          <a:xfrm>
            <a:off x="0" y="-65100"/>
            <a:ext cx="9144000" cy="527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/>
          <p:cNvPicPr preferRelativeResize="0"/>
          <p:nvPr/>
        </p:nvPicPr>
        <p:blipFill rotWithShape="1">
          <a:blip r:embed="rId3">
            <a:alphaModFix/>
          </a:blip>
          <a:srcRect b="8312" l="0" r="0" t="8312"/>
          <a:stretch/>
        </p:blipFill>
        <p:spPr>
          <a:xfrm>
            <a:off x="-18288" y="-71975"/>
            <a:ext cx="9162286" cy="12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4350" y="625850"/>
            <a:ext cx="567939" cy="57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3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None/>
              <a:defRPr>
                <a:solidFill>
                  <a:srgbClr val="12284C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311700" y="1519825"/>
            <a:ext cx="8520600" cy="27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40351" y="478975"/>
            <a:ext cx="638054" cy="6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>
            <p:ph idx="2" type="subTitle"/>
          </p:nvPr>
        </p:nvSpPr>
        <p:spPr>
          <a:xfrm>
            <a:off x="311700" y="10177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2800"/>
              <a:buFont typeface="Montserrat Black"/>
              <a:buNone/>
              <a:defRPr sz="2800">
                <a:solidFill>
                  <a:srgbClr val="1228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800"/>
              <a:buFont typeface="Montserrat"/>
              <a:buChar char="●"/>
              <a:defRPr sz="1800"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○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■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●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○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■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●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○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84C"/>
              </a:buClr>
              <a:buSzPts val="1400"/>
              <a:buFont typeface="Montserrat"/>
              <a:buChar char="■"/>
              <a:defRPr>
                <a:solidFill>
                  <a:srgbClr val="12284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ctrTitle"/>
          </p:nvPr>
        </p:nvSpPr>
        <p:spPr>
          <a:xfrm>
            <a:off x="497225" y="1166125"/>
            <a:ext cx="5168700" cy="17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/>
              <a:t>Weekly Productivity Update</a:t>
            </a:r>
            <a:endParaRPr sz="3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800"/>
          </a:p>
        </p:txBody>
      </p:sp>
      <p:sp>
        <p:nvSpPr>
          <p:cNvPr id="236" name="Google Shape;236;p37"/>
          <p:cNvSpPr txBox="1"/>
          <p:nvPr>
            <p:ph type="ctrTitle"/>
          </p:nvPr>
        </p:nvSpPr>
        <p:spPr>
          <a:xfrm>
            <a:off x="569100" y="2993350"/>
            <a:ext cx="4854000" cy="17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Month: May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Week No: 1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Reporting Date: 05/25/2026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Presented By: Kevin Mensah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261250" y="169515"/>
            <a:ext cx="84963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/>
              <a:t>Part 1.3: Weekly Planned vs Actual Analysis</a:t>
            </a:r>
            <a:endParaRPr sz="1600"/>
          </a:p>
        </p:txBody>
      </p:sp>
      <p:sp>
        <p:nvSpPr>
          <p:cNvPr id="242" name="Google Shape;242;p38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graphicFrame>
        <p:nvGraphicFramePr>
          <p:cNvPr id="243" name="Google Shape;243;p38"/>
          <p:cNvGraphicFramePr/>
          <p:nvPr/>
        </p:nvGraphicFramePr>
        <p:xfrm>
          <a:off x="348338" y="9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{E096F313-4B49-42B1-A1C5-13A5E9195BEB}</a:tableStyleId>
              </a:tblPr>
              <a:tblGrid>
                <a:gridCol w="963825"/>
                <a:gridCol w="1347375"/>
                <a:gridCol w="1809125"/>
                <a:gridCol w="882725"/>
                <a:gridCol w="871175"/>
                <a:gridCol w="750575"/>
                <a:gridCol w="1697325"/>
              </a:tblGrid>
              <a:tr h="41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Application/Domain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Task/Activity Description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Planned/ Unplanned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Remarks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Operations &amp; Maintenance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82600" rtl="0" algn="l">
                        <a:lnSpc>
                          <a:spcPct val="97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Maintenance (Not Reflected in Service Desk)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Team Meetings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huddle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Operations &amp; Maintenance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Maintenance (Not Reflected in Service Desk)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Team Meetings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weekly meeting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Operations &amp; Maintenance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Maintenance (Not Reflected in Service Desk)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Team Meetings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2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weekly reporting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2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Others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Admin Work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Update of Productivity Log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Productivity Log Updating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[SFA-App] Sales Return &amp; Replace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7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Post-Go Live: Alignment Meeting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953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[SFA-App] Sales Return &amp; Replace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Coding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13.00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95300" rtl="0" algn="l">
                        <a:lnSpc>
                          <a:spcPct val="11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[SFA-App] Sales Return &amp; Replace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Unit Testing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8.00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6.00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261250" y="169515"/>
            <a:ext cx="84963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/>
              <a:t>Part 1.3: Weekly Planned vs Actual Analysis</a:t>
            </a:r>
            <a:endParaRPr sz="1600"/>
          </a:p>
        </p:txBody>
      </p:sp>
      <p:sp>
        <p:nvSpPr>
          <p:cNvPr id="249" name="Google Shape;249;p39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graphicFrame>
        <p:nvGraphicFramePr>
          <p:cNvPr id="250" name="Google Shape;250;p39"/>
          <p:cNvGraphicFramePr/>
          <p:nvPr/>
        </p:nvGraphicFramePr>
        <p:xfrm>
          <a:off x="348338" y="9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{E096F313-4B49-42B1-A1C5-13A5E9195BEB}</a:tableStyleId>
              </a:tblPr>
              <a:tblGrid>
                <a:gridCol w="800550"/>
                <a:gridCol w="1079650"/>
                <a:gridCol w="1413875"/>
                <a:gridCol w="861450"/>
                <a:gridCol w="723600"/>
                <a:gridCol w="623425"/>
                <a:gridCol w="1409800"/>
                <a:gridCol w="1409800"/>
              </a:tblGrid>
              <a:tr h="41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Application/Domain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Task/Activity Description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Planned/ Unplanned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Remarks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82600" rtl="0" algn="l">
                        <a:lnSpc>
                          <a:spcPct val="97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[SFA-App] Sales Return &amp; Replace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5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Integration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3.00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Preparation from Local to UAT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[SFA-Web] Expenses Revamp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Testing: UAT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3.00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Support UAT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Major Enhancements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[SFA-Web] [Web Revamp] Collection Receiving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Coding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2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2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2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[SFA-Web] Expenses Revamp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Alignment Meeting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Masterfiles Discussion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Major Enhancements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[SFA-Web] [Web Revamp] FSP Mapping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7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Implementation: Documentation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0.00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Documentation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953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Expenses Revamp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Post-Go Live: Updates and Patches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0.00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12.00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Project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495300" rtl="0" algn="l">
                        <a:lnSpc>
                          <a:spcPct val="11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[SFA-App] Sales Return &amp; Replace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Design: Alignment Meeting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0.00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WEB DEMO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261250" y="169515"/>
            <a:ext cx="84963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/>
              <a:t>Part 1.3: Weekly Planned vs Actual Analysis</a:t>
            </a:r>
            <a:endParaRPr sz="1600"/>
          </a:p>
        </p:txBody>
      </p:sp>
      <p:sp>
        <p:nvSpPr>
          <p:cNvPr id="256" name="Google Shape;256;p40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graphicFrame>
        <p:nvGraphicFramePr>
          <p:cNvPr id="257" name="Google Shape;257;p40"/>
          <p:cNvGraphicFramePr/>
          <p:nvPr/>
        </p:nvGraphicFramePr>
        <p:xfrm>
          <a:off x="348338" y="9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{E096F313-4B49-42B1-A1C5-13A5E9195BEB}</a:tableStyleId>
              </a:tblPr>
              <a:tblGrid>
                <a:gridCol w="963825"/>
                <a:gridCol w="1299850"/>
                <a:gridCol w="1702225"/>
                <a:gridCol w="1037150"/>
                <a:gridCol w="871175"/>
                <a:gridCol w="750575"/>
                <a:gridCol w="1697325"/>
              </a:tblGrid>
              <a:tr h="41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Application/Domain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Task/Activity Description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Planned/ Unplanned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Remarks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1270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Major Enhancements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8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[Web Revamp] Customer Bank Accs</a:t>
                      </a:r>
                      <a:endParaRPr sz="8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3175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Deployment: Environment Setup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155828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 up main branch and create merge req for Customer Bank Accounts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1270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Major Enhancements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8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[Web Revamp] Customer Bank Accs</a:t>
                      </a:r>
                      <a:endParaRPr sz="8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8001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Implementation: Documentation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212978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Customer Bank Accounts MOP Creation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1270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Major Enhancements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766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49530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[Web Revamp]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MCP Report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Planning: Analysis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Code review in SFA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Total: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45.00</a:t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>
            <p:ph type="title"/>
          </p:nvPr>
        </p:nvSpPr>
        <p:spPr>
          <a:xfrm>
            <a:off x="261250" y="169515"/>
            <a:ext cx="84963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/>
              <a:t>Part 1.3: Weekly Planned vs Actual Analysis</a:t>
            </a:r>
            <a:endParaRPr sz="1600"/>
          </a:p>
        </p:txBody>
      </p:sp>
      <p:sp>
        <p:nvSpPr>
          <p:cNvPr id="263" name="Google Shape;263;p41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sp>
        <p:nvSpPr>
          <p:cNvPr id="264" name="Google Shape;264;p41"/>
          <p:cNvSpPr txBox="1"/>
          <p:nvPr/>
        </p:nvSpPr>
        <p:spPr>
          <a:xfrm>
            <a:off x="384625" y="729475"/>
            <a:ext cx="83730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2284C"/>
              </a:solidFill>
              <a:latin typeface="Montserrat"/>
              <a:ea typeface="Montserrat"/>
              <a:cs typeface="Montserrat"/>
              <a:sym typeface="Montserrat"/>
            </a:endParaRPr>
            <a:r>
              <a:t>The total planned hours of 45 hours matched the total actual hours, resulting in no variance, which means the workload was accurately forecasted.
The [SFA-App] Sales Return &amp; Replace project had the most work, with a notable under-run in the Implementation: Coding task, where 7 hours less were spent than planned.
This week's key takeaway is that despite some tasks taking less time than expected, the overall workload was still completed as planned.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>
            <p:ph type="title"/>
          </p:nvPr>
        </p:nvSpPr>
        <p:spPr>
          <a:xfrm>
            <a:off x="249100" y="183174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2.1: Project Progress Update</a:t>
            </a:r>
            <a:endParaRPr sz="2089"/>
          </a:p>
        </p:txBody>
      </p:sp>
      <p:graphicFrame>
        <p:nvGraphicFramePr>
          <p:cNvPr id="270" name="Google Shape;270;p42"/>
          <p:cNvGraphicFramePr/>
          <p:nvPr/>
        </p:nvGraphicFramePr>
        <p:xfrm>
          <a:off x="357525" y="7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{7DFA0212-414B-471C-9494-E5C37E109D46}</a:tableStyleId>
              </a:tblPr>
              <a:tblGrid>
                <a:gridCol w="1480775"/>
                <a:gridCol w="3696275"/>
                <a:gridCol w="2049825"/>
                <a:gridCol w="1185325"/>
              </a:tblGrid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Name: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[Web Revamp] FSP Mapping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Start Date: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04/06/2026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88900" rtl="0" algn="l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 Documentation &amp; Test Case Creation for FSP Mapping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Finish Date: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05/31/2026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Deliverables This Week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82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 / Testing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184150" lvl="0" marL="228600" marR="0" rtl="0" algn="l">
                        <a:lnSpc>
                          <a:spcPct val="117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Implementation: Documentation — Technical Documentation Meeting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184150" lvl="0" marL="228600" marR="0" rtl="0" algn="l">
                        <a:lnSpc>
                          <a:spcPct val="117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Implementation: Documentation — Functional Documentation Meeting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184150" lvl="0" marL="22860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Testing: Test Case Creation — FSP Mapping test cases compared with SFA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95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249100" y="183174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2.1: Project Progress Update</a:t>
            </a:r>
            <a:endParaRPr sz="2089"/>
          </a:p>
        </p:txBody>
      </p:sp>
      <p:graphicFrame>
        <p:nvGraphicFramePr>
          <p:cNvPr id="276" name="Google Shape;276;p43"/>
          <p:cNvGraphicFramePr/>
          <p:nvPr/>
        </p:nvGraphicFramePr>
        <p:xfrm>
          <a:off x="357525" y="7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{7DFA0212-414B-471C-9494-E5C37E109D46}</a:tableStyleId>
              </a:tblPr>
              <a:tblGrid>
                <a:gridCol w="1480775"/>
                <a:gridCol w="3696275"/>
                <a:gridCol w="2049825"/>
                <a:gridCol w="1185325"/>
              </a:tblGrid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Name: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[Web Revamp] Customer Bank Accs</a:t>
                      </a:r>
                      <a:endParaRPr b="1"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Start Date: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04/06/2026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88900" rtl="0" algn="l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MOP + merge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Finish Date: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05/31/2026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Deliverables This Week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82600">
                <a:tc gridSpan="3">
                  <a:txBody>
                    <a:bodyPr/>
                    <a:lstStyle/>
                    <a:p>
                      <a:pPr indent="-184150" lvl="0" marL="22860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Environment Setup (To main merge)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184150" lvl="0" marL="22860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MOP Creation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95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249100" y="183174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2.1: Project Progress Update</a:t>
            </a:r>
            <a:endParaRPr sz="2089"/>
          </a:p>
        </p:txBody>
      </p:sp>
      <p:graphicFrame>
        <p:nvGraphicFramePr>
          <p:cNvPr id="282" name="Google Shape;282;p44"/>
          <p:cNvGraphicFramePr/>
          <p:nvPr/>
        </p:nvGraphicFramePr>
        <p:xfrm>
          <a:off x="357525" y="7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{7DFA0212-414B-471C-9494-E5C37E109D46}</a:tableStyleId>
              </a:tblPr>
              <a:tblGrid>
                <a:gridCol w="1480775"/>
                <a:gridCol w="3696275"/>
                <a:gridCol w="2049825"/>
                <a:gridCol w="1185325"/>
              </a:tblGrid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Name: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[SFA-Web] Expenses Revamp User Maintenance</a:t>
                      </a:r>
                      <a:endParaRPr b="1"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Start Date: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04/06/2026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88900" rtl="0" algn="l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MOP + merge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Finish Date: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05/31/2026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50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Planned Deliverables This Week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82600">
                <a:tc gridSpan="3">
                  <a:txBody>
                    <a:bodyPr/>
                    <a:lstStyle/>
                    <a:p>
                      <a:pPr indent="-184150" lvl="0" marL="22860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900"/>
                        <a:buFont typeface="Montserrat"/>
                        <a:buChar char="•"/>
                      </a:pPr>
                      <a:r>
                        <a:rPr lang="en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UAT</a:t>
                      </a:r>
                      <a:endParaRPr sz="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95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Ongoing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249100" y="183174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2.2: Support Summary (Customer Requests)</a:t>
            </a:r>
            <a:endParaRPr sz="2089"/>
          </a:p>
        </p:txBody>
      </p:sp>
      <p:sp>
        <p:nvSpPr>
          <p:cNvPr id="288" name="Google Shape;288;p45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graphicFrame>
        <p:nvGraphicFramePr>
          <p:cNvPr id="289" name="Google Shape;289;p45"/>
          <p:cNvGraphicFramePr/>
          <p:nvPr/>
        </p:nvGraphicFramePr>
        <p:xfrm>
          <a:off x="371200" y="7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{7DFA0212-414B-471C-9494-E5C37E109D46}</a:tableStyleId>
              </a:tblPr>
              <a:tblGrid>
                <a:gridCol w="1862000"/>
                <a:gridCol w="1394900"/>
                <a:gridCol w="840425"/>
                <a:gridCol w="711075"/>
                <a:gridCol w="676525"/>
                <a:gridCol w="1608200"/>
                <a:gridCol w="1305425"/>
              </a:tblGrid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App/Domain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Of Tickets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Critical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Major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Resolved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Pending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Expense Revamp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</a:tbl>
          </a:graphicData>
        </a:graphic>
      </p:graphicFrame>
      <p:sp>
        <p:nvSpPr>
          <p:cNvPr id="290" name="Google Shape;290;p45"/>
          <p:cNvSpPr txBox="1"/>
          <p:nvPr>
            <p:ph type="title"/>
          </p:nvPr>
        </p:nvSpPr>
        <p:spPr>
          <a:xfrm>
            <a:off x="249100" y="2300041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2.3: Key Impact Delivered This Week</a:t>
            </a:r>
            <a:endParaRPr sz="2089"/>
          </a:p>
        </p:txBody>
      </p:sp>
      <p:sp>
        <p:nvSpPr>
          <p:cNvPr id="291" name="Google Shape;291;p45"/>
          <p:cNvSpPr txBox="1"/>
          <p:nvPr/>
        </p:nvSpPr>
        <p:spPr>
          <a:xfrm>
            <a:off x="308600" y="2728350"/>
            <a:ext cx="84612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Delivered FSP Mapping Implementation Documentation (technical + functional) and Test Case Creation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Produced Data Dictionary / RTM documentation across all owned modules that helps in traceability for future modules.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45"/>
          <p:cNvSpPr txBox="1"/>
          <p:nvPr>
            <p:ph type="title"/>
          </p:nvPr>
        </p:nvSpPr>
        <p:spPr>
          <a:xfrm>
            <a:off x="178800" y="3763116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2.4: Risk/Escalation Needed</a:t>
            </a:r>
            <a:endParaRPr sz="2089"/>
          </a:p>
        </p:txBody>
      </p:sp>
      <p:sp>
        <p:nvSpPr>
          <p:cNvPr id="293" name="Google Shape;293;p45"/>
          <p:cNvSpPr txBox="1"/>
          <p:nvPr/>
        </p:nvSpPr>
        <p:spPr>
          <a:xfrm>
            <a:off x="308611" y="4187655"/>
            <a:ext cx="75849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Meeting with Miss Eula for FSP mapping demo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>
            <p:ph type="title"/>
          </p:nvPr>
        </p:nvSpPr>
        <p:spPr>
          <a:xfrm>
            <a:off x="249100" y="183174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2.2: Support Summary (Customer Requests)</a:t>
            </a:r>
            <a:endParaRPr sz="2089"/>
          </a:p>
        </p:txBody>
      </p:sp>
      <p:sp>
        <p:nvSpPr>
          <p:cNvPr id="299" name="Google Shape;299;p46"/>
          <p:cNvSpPr txBox="1"/>
          <p:nvPr/>
        </p:nvSpPr>
        <p:spPr>
          <a:xfrm>
            <a:off x="308588" y="1807450"/>
            <a:ext cx="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/>
              <a:t> </a:t>
            </a:r>
            <a:endParaRPr sz="2000"/>
          </a:p>
        </p:txBody>
      </p:sp>
      <p:graphicFrame>
        <p:nvGraphicFramePr>
          <p:cNvPr id="300" name="Google Shape;300;p46"/>
          <p:cNvGraphicFramePr/>
          <p:nvPr/>
        </p:nvGraphicFramePr>
        <p:xfrm>
          <a:off x="371200" y="7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{7DFA0212-414B-471C-9494-E5C37E109D46}</a:tableStyleId>
              </a:tblPr>
              <a:tblGrid>
                <a:gridCol w="1862000"/>
                <a:gridCol w="1394900"/>
                <a:gridCol w="840425"/>
                <a:gridCol w="1365675"/>
                <a:gridCol w="1338725"/>
                <a:gridCol w="1305425"/>
              </a:tblGrid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App/Domain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Ticket #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Severity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Request Date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Resolved Date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Expense Revamp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4354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 13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Done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 15</a:t>
                      </a:r>
                      <a:endParaRPr sz="12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  <a:tr h="1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75" marB="18275" marR="45700" marL="45700"/>
                </a:tc>
              </a:tr>
            </a:tbl>
          </a:graphicData>
        </a:graphic>
      </p:graphicFrame>
      <p:sp>
        <p:nvSpPr>
          <p:cNvPr id="301" name="Google Shape;301;p46"/>
          <p:cNvSpPr txBox="1"/>
          <p:nvPr>
            <p:ph type="title"/>
          </p:nvPr>
        </p:nvSpPr>
        <p:spPr>
          <a:xfrm>
            <a:off x="249100" y="2300041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2.3: Key Impact Delivered This Week</a:t>
            </a:r>
            <a:endParaRPr sz="2089"/>
          </a:p>
        </p:txBody>
      </p:sp>
      <p:sp>
        <p:nvSpPr>
          <p:cNvPr id="302" name="Google Shape;302;p46"/>
          <p:cNvSpPr txBox="1"/>
          <p:nvPr/>
        </p:nvSpPr>
        <p:spPr>
          <a:xfrm>
            <a:off x="308600" y="2728350"/>
            <a:ext cx="84612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Delivered FSP Mapping Implementation Documentation (technical + functional) and Test Case Creation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Produced Data Dictionary / RTM documentation across all owned modules that helps in traceability for future modules.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46"/>
          <p:cNvSpPr txBox="1"/>
          <p:nvPr>
            <p:ph type="title"/>
          </p:nvPr>
        </p:nvSpPr>
        <p:spPr>
          <a:xfrm>
            <a:off x="178800" y="3763116"/>
            <a:ext cx="85206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9"/>
              <a:t>Part 2.4: Risk/Escalation Needed</a:t>
            </a:r>
            <a:endParaRPr sz="2089"/>
          </a:p>
        </p:txBody>
      </p:sp>
      <p:sp>
        <p:nvSpPr>
          <p:cNvPr id="304" name="Google Shape;304;p46"/>
          <p:cNvSpPr txBox="1"/>
          <p:nvPr/>
        </p:nvSpPr>
        <p:spPr>
          <a:xfrm>
            <a:off x="308611" y="4187655"/>
            <a:ext cx="75849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Meeting with Miss Eula for FSP mapping demo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>
            <p:ph idx="4294967295" type="title"/>
          </p:nvPr>
        </p:nvSpPr>
        <p:spPr>
          <a:xfrm>
            <a:off x="311700" y="1958475"/>
            <a:ext cx="84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Thank you!</a:t>
            </a:r>
            <a:endParaRPr sz="8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